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image" Target="../media/image-1002-3.png"/><Relationship Id="rId4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image" Target="../media/image-1003-3.png"/><Relationship Id="rId4" Type="http://schemas.openxmlformats.org/officeDocument/2006/relationships/image" Target="../media/image-1003-4.png"/><Relationship Id="rId5" Type="http://schemas.openxmlformats.org/officeDocument/2006/relationships/image" Target="../media/image-1003-5.png"/><Relationship Id="rId6" Type="http://schemas.openxmlformats.org/officeDocument/2006/relationships/image" Target="../media/image-1003-6.png"/><Relationship Id="rId7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DDE2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BD1F5"/>
          </a:solidFill>
          <a:ln w="12700">
            <a:solidFill>
              <a:srgbClr val="CBD1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3054096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54096" y="658368"/>
            <a:ext cx="3054096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9048" y="658368"/>
            <a:ext cx="3054096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pic>
        <p:nvPicPr>
          <p:cNvPr id="6" name="Image 0" descr="vtu_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1440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9144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b="1" dirty="0">
                <a:solidFill>
                  <a:srgbClr val="2E1B5B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ವಿಶ್ವೇಶ್ವರಯ್ಯ ತಾಂತ್ರಿಕ ವಿಶ್ವವಿದ್ಯಾಲಯ, ಬೆಳಗಾವಿ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932688" y="33832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Visvesvaraya Technological University, Belagavi</a:t>
            </a:r>
            <a:endParaRPr lang="en-US" sz="950" dirty="0"/>
          </a:p>
        </p:txBody>
      </p:sp>
      <p:pic>
        <p:nvPicPr>
          <p:cNvPr id="9" name="Image 1" descr="quc_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1104" y="91440"/>
            <a:ext cx="612648" cy="4754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94960" y="109728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2E1B5B"/>
                </a:solidFill>
              </a:rPr>
              <a:t>QISKIT FALL FEST 2026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394960" y="365760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00" kern="0" dirty="0">
                <a:solidFill>
                  <a:srgbClr val="5B3BA8"/>
                </a:solidFill>
              </a:rPr>
              <a:t>IBM Quantum</a:t>
            </a:r>
            <a:endParaRPr lang="en-US" sz="950" dirty="0"/>
          </a:p>
        </p:txBody>
      </p:sp>
      <p:pic>
        <p:nvPicPr>
          <p:cNvPr id="12" name="Image 2" descr="badge_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2752" y="91440"/>
            <a:ext cx="475488" cy="475488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CBD1F5"/>
          </a:solidFill>
          <a:ln w="12700">
            <a:solidFill>
              <a:srgbClr val="CBD1F5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0" y="4828032"/>
            <a:ext cx="3054096" cy="36576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3054096" y="4828032"/>
            <a:ext cx="3054096" cy="36576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099048" y="4828032"/>
            <a:ext cx="3054096" cy="36576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57200" y="48646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2E1B5B"/>
                </a:solidFill>
              </a:rPr>
              <a:t>QISKIT FALL FEST 2026  ·  HOSTED BY VTU, BELAGAVI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5943600" y="48646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00" kern="0" dirty="0">
                <a:solidFill>
                  <a:srgbClr val="5B3BA8"/>
                </a:solidFill>
              </a:rPr>
              <a:t>27 – 31 OCT 2026</a:t>
            </a:r>
            <a:endParaRPr lang="en-US" sz="8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DDE2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BD1F5"/>
          </a:solidFill>
          <a:ln w="12700">
            <a:solidFill>
              <a:srgbClr val="CBD1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3054096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54096" y="658368"/>
            <a:ext cx="3054096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9048" y="658368"/>
            <a:ext cx="3054096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pic>
        <p:nvPicPr>
          <p:cNvPr id="6" name="Image 0" descr="vtu_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1440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9144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b="1" dirty="0">
                <a:solidFill>
                  <a:srgbClr val="2E1B5B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ವಿಶ್ವೇಶ್ವರಯ್ಯ ತಾಂತ್ರಿಕ ವಿಶ್ವವಿದ್ಯಾಲಯ, ಬೆಳಗಾವಿ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932688" y="33832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Visvesvaraya Technological University, Belagavi</a:t>
            </a:r>
            <a:endParaRPr lang="en-US" sz="950" dirty="0"/>
          </a:p>
        </p:txBody>
      </p:sp>
      <p:pic>
        <p:nvPicPr>
          <p:cNvPr id="9" name="Image 1" descr="quc_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1104" y="91440"/>
            <a:ext cx="612648" cy="4754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94960" y="109728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2E1B5B"/>
                </a:solidFill>
              </a:rPr>
              <a:t>QISKIT FALL FEST 2026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394960" y="365760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00" kern="0" dirty="0">
                <a:solidFill>
                  <a:srgbClr val="5B3BA8"/>
                </a:solidFill>
              </a:rPr>
              <a:t>IBM Quantum</a:t>
            </a:r>
            <a:endParaRPr lang="en-US" sz="950" dirty="0"/>
          </a:p>
        </p:txBody>
      </p:sp>
      <p:pic>
        <p:nvPicPr>
          <p:cNvPr id="12" name="Image 2" descr="badge_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2752" y="91440"/>
            <a:ext cx="475488" cy="475488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CBD1F5"/>
          </a:solidFill>
          <a:ln w="12700">
            <a:solidFill>
              <a:srgbClr val="CBD1F5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0" y="4828032"/>
            <a:ext cx="3054096" cy="36576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3054096" y="4828032"/>
            <a:ext cx="3054096" cy="36576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099048" y="4828032"/>
            <a:ext cx="3054096" cy="36576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57200" y="48646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2E1B5B"/>
                </a:solidFill>
              </a:rPr>
              <a:t>QISKIT FALL FEST 2026  ·  HOSTED BY VTU, BELAGAVI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5943600" y="48646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00" kern="0" dirty="0">
                <a:solidFill>
                  <a:srgbClr val="5B3BA8"/>
                </a:solidFill>
              </a:rPr>
              <a:t>27 – 31 OCT 2026</a:t>
            </a:r>
            <a:endParaRPr lang="en-US" sz="850" dirty="0"/>
          </a:p>
        </p:txBody>
      </p:sp>
      <p:pic>
        <p:nvPicPr>
          <p:cNvPr id="19" name="Image 3" descr="spher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9560" y="822960"/>
            <a:ext cx="777240" cy="777240"/>
          </a:xfrm>
          <a:prstGeom prst="rect">
            <a:avLst/>
          </a:prstGeom>
        </p:spPr>
      </p:pic>
      <p:pic>
        <p:nvPicPr>
          <p:cNvPr id="20" name="Image 4" descr="bird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600" y="868680"/>
            <a:ext cx="548640" cy="329184"/>
          </a:xfrm>
          <a:prstGeom prst="rect">
            <a:avLst/>
          </a:prstGeom>
        </p:spPr>
      </p:pic>
      <p:pic>
        <p:nvPicPr>
          <p:cNvPr id="21" name="Image 5" descr="bird2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03720" y="1261872"/>
            <a:ext cx="384048" cy="228600"/>
          </a:xfrm>
          <a:prstGeom prst="rect">
            <a:avLst/>
          </a:prstGeom>
        </p:spPr>
      </p:pic>
      <p:sp>
        <p:nvSpPr>
          <p:cNvPr id="22" name="Text 14"/>
          <p:cNvSpPr/>
          <p:nvPr>
            <p:ph idx="120" type="title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863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 PRESENTATION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Qiskit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E863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Fall Fest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017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4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· Team Details</a:t>
            </a:r>
            <a:endParaRPr lang="en-US" sz="1300" dirty="0"/>
          </a:p>
        </p:txBody>
      </p:sp>
      <p:pic>
        <p:nvPicPr>
          <p:cNvPr id="5" name="Bloch sphere ring" descr="sphe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91840"/>
            <a:ext cx="1371600" cy="1371600"/>
          </a:xfrm>
          <a:prstGeom prst="rect">
            <a:avLst/>
          </a:prstGeom>
        </p:spPr>
      </p:pic>
      <p:pic>
        <p:nvPicPr>
          <p:cNvPr id="6" name="Image 1" descr="bird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8840" y="3429000"/>
            <a:ext cx="731520" cy="438912"/>
          </a:xfrm>
          <a:prstGeom prst="rect">
            <a:avLst/>
          </a:prstGeom>
        </p:spPr>
      </p:pic>
      <p:pic>
        <p:nvPicPr>
          <p:cNvPr id="7" name="Image 2" descr="bird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0" y="3977640"/>
            <a:ext cx="502920" cy="301752"/>
          </a:xfrm>
          <a:prstGeom prst="rect">
            <a:avLst/>
          </a:prstGeom>
        </p:spPr>
      </p:pic>
      <p:pic>
        <p:nvPicPr>
          <p:cNvPr id="8" name="Image 3" descr="bird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1720" y="4297680"/>
            <a:ext cx="384048" cy="228600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4023360" y="84124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Participant Details</a:t>
            </a:r>
            <a:endParaRPr lang="en-US" sz="1600" dirty="0"/>
          </a:p>
        </p:txBody>
      </p:sp>
      <p:sp>
        <p:nvSpPr>
          <p:cNvPr id="10" name="Field: PROJECT TITLE"/>
          <p:cNvSpPr/>
          <p:nvPr/>
        </p:nvSpPr>
        <p:spPr>
          <a:xfrm>
            <a:off x="4023360" y="1261872"/>
            <a:ext cx="466344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TITLE</a:t>
            </a:r>
            <a:endParaRPr lang="en-US" sz="900" dirty="0"/>
          </a:p>
          <a:p>
            <a:pPr algn="l" indent="0" marL="0">
              <a:buNone/>
            </a:pPr>
            <a:r>
              <a:rPr lang="en-US" sz="1200" i="1" dirty="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Drift-Aware Industrial Fault Detection Using Hybrid Quantum–Classical Machine Learning</a:t>
            </a:r>
            <a:endParaRPr lang="en-US" sz="900" dirty="0"/>
          </a:p>
        </p:txBody>
      </p:sp>
      <p:sp>
        <p:nvSpPr>
          <p:cNvPr id="11" name="Field: TRACK"/>
          <p:cNvSpPr/>
          <p:nvPr/>
        </p:nvSpPr>
        <p:spPr>
          <a:xfrm>
            <a:off x="4023360" y="1865376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900" dirty="0"/>
          </a:p>
          <a:p>
            <a:pPr algn="l" indent="0" marL="0">
              <a:buNone/>
            </a:pPr>
            <a:r>
              <a:rPr lang="en-US" sz="1200" i="1" dirty="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+ AI/ML</a:t>
            </a:r>
            <a:endParaRPr lang="en-US" sz="900" dirty="0"/>
          </a:p>
        </p:txBody>
      </p:sp>
      <p:sp>
        <p:nvSpPr>
          <p:cNvPr id="12" name="Field: TEAM NAME"/>
          <p:cNvSpPr/>
          <p:nvPr/>
        </p:nvSpPr>
        <p:spPr>
          <a:xfrm>
            <a:off x="6400800" y="1865376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</a:t>
            </a:r>
            <a:endParaRPr lang="en-US" sz="900" dirty="0"/>
          </a:p>
          <a:p>
            <a:pPr algn="l" indent="0" marL="0">
              <a:buNone/>
            </a:pPr>
            <a:r>
              <a:rPr lang="en-US" sz="1200" i="1" dirty="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Phantoms  |  VTU-QFF-HC-0005</a:t>
            </a:r>
            <a:endParaRPr lang="en-US" sz="900" dirty="0"/>
          </a:p>
        </p:txBody>
      </p:sp>
      <p:sp>
        <p:nvSpPr>
          <p:cNvPr id="13" name="Field: TEAM LEADER"/>
          <p:cNvSpPr/>
          <p:nvPr/>
        </p:nvSpPr>
        <p:spPr>
          <a:xfrm>
            <a:off x="4023360" y="2468880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LEADER</a:t>
            </a:r>
            <a:endParaRPr lang="en-US" sz="900" dirty="0"/>
          </a:p>
          <a:p>
            <a:pPr algn="l" indent="0" marL="0">
              <a:buNone/>
            </a:pPr>
            <a:r>
              <a:rPr lang="en-US" sz="1200" i="1" dirty="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Leader Name — please fill in]</a:t>
            </a:r>
            <a:endParaRPr lang="en-US" sz="900" dirty="0"/>
          </a:p>
        </p:txBody>
      </p:sp>
      <p:sp>
        <p:nvSpPr>
          <p:cNvPr id="14" name="Field: EMAIL / CONTACT"/>
          <p:cNvSpPr/>
          <p:nvPr/>
        </p:nvSpPr>
        <p:spPr>
          <a:xfrm>
            <a:off x="6400800" y="2468880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/ CONTACT</a:t>
            </a:r>
            <a:endParaRPr lang="en-US" sz="900" dirty="0"/>
          </a:p>
          <a:p>
            <a:pPr algn="l" indent="0" marL="0">
              <a:buNone/>
            </a:pPr>
            <a:r>
              <a:rPr lang="en-US" sz="1200" i="1" dirty="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[contact@example.com — please fill in]</a:t>
            </a:r>
            <a:endParaRPr lang="en-US" sz="900" dirty="0"/>
          </a:p>
        </p:txBody>
      </p:sp>
      <p:sp>
        <p:nvSpPr>
          <p:cNvPr id="15" name="Field: TEAM MEMBERS"/>
          <p:cNvSpPr/>
          <p:nvPr/>
        </p:nvSpPr>
        <p:spPr>
          <a:xfrm>
            <a:off x="4023360" y="3072384"/>
            <a:ext cx="46634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900" dirty="0"/>
          </a:p>
          <a:p>
            <a:pPr algn="l" indent="0" marL="0">
              <a:buNone/>
            </a:pPr>
            <a:r>
              <a:rPr lang="en-US" sz="1200" i="1" dirty="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[Member 1]  •  [Member 2]  •  [Member 3]  •  [Member 4]  (please fill in team members)</a:t>
            </a:r>
            <a:endParaRPr lang="en-US" sz="900" dirty="0"/>
          </a:p>
        </p:txBody>
      </p:sp>
      <p:sp>
        <p:nvSpPr>
          <p:cNvPr id="16" name="Field: INSTITUTION / ORGANISATION"/>
          <p:cNvSpPr/>
          <p:nvPr/>
        </p:nvSpPr>
        <p:spPr>
          <a:xfrm>
            <a:off x="4023360" y="3922776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 / ORGANISATION</a:t>
            </a:r>
            <a:endParaRPr lang="en-US" sz="900" dirty="0"/>
          </a:p>
          <a:p>
            <a:pPr algn="l" indent="0" marL="0">
              <a:buNone/>
            </a:pPr>
            <a:r>
              <a:rPr lang="en-US" sz="1200" i="1" dirty="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Visvesvaraya Technological University (VTU)</a:t>
            </a:r>
            <a:endParaRPr lang="en-US" sz="900" dirty="0"/>
          </a:p>
        </p:txBody>
      </p:sp>
      <p:sp>
        <p:nvSpPr>
          <p:cNvPr id="17" name="Field: COUNTRY"/>
          <p:cNvSpPr/>
          <p:nvPr/>
        </p:nvSpPr>
        <p:spPr>
          <a:xfrm>
            <a:off x="6400800" y="3922776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</a:t>
            </a:r>
            <a:endParaRPr lang="en-US" sz="900" dirty="0"/>
          </a:p>
          <a:p>
            <a:pPr algn="l" indent="0" marL="0">
              <a:buNone/>
            </a:pPr>
            <a:r>
              <a:rPr lang="en-US" sz="1200" i="1" dirty="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/>
          <p:nvPr>
            <p:ph idx="120" type="title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Content card"/>
          <p:cNvSpPr/>
          <p:nvPr/>
        </p:nvSpPr>
        <p:spPr>
          <a:xfrm>
            <a:off x="45720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874520"/>
            <a:ext cx="7500000" cy="2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pts val="600"/>
              </a:spcAft>
            </a:pPr>
            <a:r>
              <a:rPr lang="en-US" dirty="0" b="1" sz="1500">
                <a:solidFill>
                  <a:srgbClr val="5B3BA8"/>
                </a:solidFill>
              </a:rPr>
              <a:t>The Industrial Challenge &amp; Motivation:</a:t>
            </a:r>
          </a:p>
          <a:p>
            <a:pPr>
              <a:spcAft>
                <a:pts val="400"/>
              </a:spcAft>
            </a:pPr>
            <a:r>
              <a:rPr lang="en-US" dirty="0" sz="1300">
                <a:solidFill>
                  <a:srgbClr val="2E1B5B"/>
                </a:solidFill>
              </a:rPr>
              <a:t>• Real-world industrial machines operate under harsh, dynamic conditions where continuous sensors drift over time due to mechanical wear, calibration decay, and thermal fluctuations.</a:t>
            </a:r>
          </a:p>
          <a:p>
            <a:pPr>
              <a:spcAft>
                <a:pts val="400"/>
              </a:spcAft>
            </a:pPr>
            <a:r>
              <a:rPr lang="en-US" dirty="0" sz="1300">
                <a:solidFill>
                  <a:srgbClr val="2E1B5B"/>
                </a:solidFill>
              </a:rPr>
              <a:t>• Severe class imbalance (~3.4% failure rate in standard benchmarks) causes standard classical classifiers to miss critical, catastrophic machine breakdowns.</a:t>
            </a:r>
          </a:p>
          <a:p>
            <a:pPr>
              <a:spcAft>
                <a:pts val="1000"/>
              </a:spcAft>
            </a:pPr>
            <a:r>
              <a:rPr lang="en-US" dirty="0" sz="1300">
                <a:solidFill>
                  <a:srgbClr val="2E1B5B"/>
                </a:solidFill>
              </a:rPr>
              <a:t>• Automated models often suffer silent performance degradation under distribution shift without alerting human maintenance engineers.</a:t>
            </a:r>
          </a:p>
          <a:p>
            <a:pPr>
              <a:spcAft>
                <a:pts val="600"/>
              </a:spcAft>
            </a:pPr>
            <a:r>
              <a:rPr lang="en-US" dirty="0" b="1" sz="1500">
                <a:solidFill>
                  <a:srgbClr val="5B3BA8"/>
                </a:solidFill>
              </a:rPr>
              <a:t>Project Objective:</a:t>
            </a:r>
          </a:p>
          <a:p>
            <a:r>
              <a:rPr lang="en-US" dirty="0" sz="1300">
                <a:solidFill>
                  <a:srgbClr val="2E1B5B"/>
                </a:solidFill>
              </a:rPr>
              <a:t>Investigate a hybrid quantum–classical machine learning framework pairing a classical SVM baseline with a simulated quantum-kernel classifier, integrated with statistical sensor drift detection (KS-test) and uncertainty-aware alerts for human operator review.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/>
          <p:nvPr>
            <p:ph idx="120" type="title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Objectives &amp; Industrial Dataset</a:t>
            </a:r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Content card"/>
          <p:cNvSpPr/>
          <p:nvPr/>
        </p:nvSpPr>
        <p:spPr>
          <a:xfrm>
            <a:off x="45720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874520"/>
            <a:ext cx="7500000" cy="2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pts val="600"/>
              </a:spcAft>
            </a:pPr>
            <a:r>
              <a:rPr lang="en-US" dirty="0" b="1" sz="1500">
                <a:solidFill>
                  <a:srgbClr val="5B3BA8"/>
                </a:solidFill>
              </a:rPr>
              <a:t>UCI AI4I 2020 Predictive Maintenance Dataset (10,000 Records):</a:t>
            </a:r>
          </a:p>
          <a:p>
            <a:pPr>
              <a:spcAft>
                <a:pts val="400"/>
              </a:spcAft>
            </a:pPr>
            <a:r>
              <a:rPr lang="en-US" dirty="0" sz="1300">
                <a:solidFill>
                  <a:srgbClr val="2E1B5B"/>
                </a:solidFill>
              </a:rPr>
              <a:t>• 10,000 synthetic operational records reflecting real milling machine telemetry.</a:t>
            </a:r>
          </a:p>
          <a:p>
            <a:pPr>
              <a:spcAft>
                <a:pts val="400"/>
              </a:spcAft>
            </a:pPr>
            <a:r>
              <a:rPr lang="en-US" dirty="0" sz="1300">
                <a:solidFill>
                  <a:srgbClr val="2E1B5B"/>
                </a:solidFill>
              </a:rPr>
              <a:t>• 5 Continuous Sensor Channels: Air temperature [K], Process temperature [K], Rotational speed [rpm], Torque [Nm], and Tool wear [min].</a:t>
            </a:r>
          </a:p>
          <a:p>
            <a:pPr>
              <a:spcAft>
                <a:pts val="400"/>
              </a:spcAft>
            </a:pPr>
            <a:r>
              <a:rPr lang="en-US" dirty="0" sz="1300">
                <a:solidFill>
                  <a:srgbClr val="2E1B5B"/>
                </a:solidFill>
              </a:rPr>
              <a:t>• 1 Categorical Feature: Product variant Type (L, M, H) — one-hot encoded.</a:t>
            </a:r>
          </a:p>
          <a:p>
            <a:pPr>
              <a:spcAft>
                <a:pts val="1000"/>
              </a:spcAft>
            </a:pPr>
            <a:r>
              <a:rPr lang="en-US" dirty="0" sz="1300">
                <a:solidFill>
                  <a:srgbClr val="2E1B5B"/>
                </a:solidFill>
              </a:rPr>
              <a:t>• Target Label: Machine failure (binary: 9,661 Normal [0] vs. 339 Failure [1] = 3.39% imbalance).</a:t>
            </a:r>
          </a:p>
          <a:p>
            <a:pPr>
              <a:spcAft>
                <a:pts val="600"/>
              </a:spcAft>
            </a:pPr>
            <a:r>
              <a:rPr lang="en-US" dirty="0" b="1" sz="1500">
                <a:solidFill>
                  <a:srgbClr val="5B3BA8"/>
                </a:solidFill>
              </a:rPr>
              <a:t>Strict Target Leakage Prevention:</a:t>
            </a:r>
          </a:p>
          <a:p>
            <a:pPr>
              <a:spcAft>
                <a:pts val="400"/>
              </a:spcAft>
            </a:pPr>
            <a:r>
              <a:rPr lang="en-US" dirty="0" sz="1300">
                <a:solidFill>
                  <a:srgbClr val="2E1B5B"/>
                </a:solidFill>
              </a:rPr>
              <a:t>• Component failure causes (TWF, HDF, PWF, OSF, RNF) directly reveal breakdown occurrence and are strictly excluded from all model feature matrices.</a:t>
            </a:r>
          </a:p>
          <a:p>
            <a:r>
              <a:rPr lang="en-US" dirty="0" sz="1300">
                <a:solidFill>
                  <a:srgbClr val="2E1B5B"/>
                </a:solidFill>
              </a:rPr>
              <a:t>• Preprocessing pipelines are fitted exclusively on training splits (no test data leakage).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/>
          <p:nvPr>
            <p:ph idx="120" type="title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System Architecture &amp; End-to-End Pipeline</a:t>
            </a:r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Content card"/>
          <p:cNvSpPr/>
          <p:nvPr/>
        </p:nvSpPr>
        <p:spPr>
          <a:xfrm>
            <a:off x="45720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874520"/>
            <a:ext cx="7500000" cy="2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pts val="600"/>
              </a:spcAft>
            </a:pPr>
            <a:r>
              <a:rPr lang="en-US" dirty="0" b="1" sz="1500">
                <a:solidFill>
                  <a:srgbClr val="5B3BA8"/>
                </a:solidFill>
              </a:rPr>
              <a:t>Integrated 4-Tier Pipeline Architecture:</a:t>
            </a:r>
          </a:p>
          <a:p>
            <a:pPr>
              <a:spcAft>
                <a:pts val="400"/>
              </a:spcAft>
            </a:pPr>
            <a:r>
              <a:rPr lang="en-US" dirty="0" sz="1300">
                <a:solidFill>
                  <a:srgbClr val="2E1B5B"/>
                </a:solidFill>
              </a:rPr>
              <a:t>1. Telemetry Ingestion &amp; Leakage-Free Preprocessing (src/data_loader.py): Standardizes continuous physical sensors and one-hot encodes product types while filtering out failure causes.</a:t>
            </a:r>
          </a:p>
          <a:p>
            <a:pPr>
              <a:spcAft>
                <a:pts val="400"/>
              </a:spcAft>
            </a:pPr>
            <a:r>
              <a:rPr lang="en-US" dirty="0" sz="1300">
                <a:solidFill>
                  <a:srgbClr val="2E1B5B"/>
                </a:solidFill>
              </a:rPr>
              <a:t>2. Balanced Classical Baseline (src/classical_model.py): Scikit-learn Pipeline with class_weight='balanced' RBF-kernel SVM evaluated across all 10,000 records.</a:t>
            </a:r>
          </a:p>
          <a:p>
            <a:pPr>
              <a:spcAft>
                <a:pts val="400"/>
              </a:spcAft>
            </a:pPr>
            <a:r>
              <a:rPr lang="en-US" dirty="0" sz="1300">
                <a:solidFill>
                  <a:srgbClr val="2E1B5B"/>
                </a:solidFill>
              </a:rPr>
              <a:t>3. Quantum-Kernel Classifier (src/quantum_model.py): Dimensionality-reduced (PCA 4), angle-scaled [0, π] inputs mapped into a 4-qubit ZZFeatureMap and evaluated via Qiskit FidelityQuantumKernel on Aer/Statevector simulator.</a:t>
            </a:r>
          </a:p>
          <a:p>
            <a:pPr>
              <a:spcAft>
                <a:pts val="1000"/>
              </a:spcAft>
            </a:pPr>
            <a:r>
              <a:rPr lang="en-US" dirty="0" sz="1300">
                <a:solidFill>
                  <a:srgbClr val="2E1B5B"/>
                </a:solidFill>
              </a:rPr>
              <a:t>4. Drift &amp; Uncertainty Layer (src/drift_detector.py &amp; src/uncertainty.py): Statistical two-sample KS hypothesis testing monitors sensor distribution shift; confidence thresholding flags uncertain decisions for operator review.</a:t>
            </a:r>
          </a:p>
          <a:p>
            <a:pPr>
              <a:spcAft>
                <a:pts val="400"/>
              </a:spcAft>
            </a:pPr>
            <a:r>
              <a:rPr lang="en-US" dirty="0" b="1" sz="1400">
                <a:solidFill>
                  <a:srgbClr val="5B3BA8"/>
                </a:solidFill>
              </a:rPr>
              <a:t>Interactive Dashboard (src/dashboard.py):</a:t>
            </a:r>
          </a:p>
          <a:p>
            <a:r>
              <a:rPr lang="en-US" dirty="0" sz="1300">
                <a:solidFill>
                  <a:srgbClr val="2E1B5B"/>
                </a:solidFill>
              </a:rPr>
              <a:t>Streamlit operational control center providing live telemetry inference, synthetic drift controls, benchmark metrics, and multi-tier alert triage.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/>
          <p:nvPr>
            <p:ph idx="120" type="title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Model Design: Classical SVM vs. Quantum Kernel</a:t>
            </a:r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Insert area"/>
          <p:cNvSpPr/>
          <p:nvPr/>
        </p:nvSpPr>
        <p:spPr>
          <a:xfrm>
            <a:off x="457200" y="1691640"/>
            <a:ext cx="4937760" cy="2926080"/>
          </a:xfrm>
          <a:prstGeom prst="roundRect">
            <a:avLst>
              <a:gd name="adj" fmla="val 2500"/>
            </a:avLst>
          </a:prstGeom>
          <a:solidFill>
            <a:srgbClr val="EEF0FE"/>
          </a:solidFill>
          <a:ln w="15875">
            <a:solidFill>
              <a:srgbClr val="7C93F0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640080" y="187452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pts val="600"/>
              </a:spcAft>
            </a:pPr>
            <a:r>
              <a:rPr lang="en-US" dirty="0" b="1" sz="1400">
                <a:solidFill>
                  <a:srgbClr val="5B3BA8"/>
                </a:solidFill>
              </a:rPr>
              <a:t>Quantum-Kernel SVM Architecture:</a:t>
            </a:r>
          </a:p>
          <a:p>
            <a:pPr>
              <a:spcAft>
                <a:pts val="400"/>
              </a:spcAft>
            </a:pPr>
            <a:r>
              <a:rPr lang="en-US" dirty="0" sz="1200">
                <a:solidFill>
                  <a:srgbClr val="2E1B5B"/>
                </a:solidFill>
              </a:rPr>
              <a:t>• Circuit Dimension: 4 Qubits (compressed via PCA from 7 preprocessed sensor features).</a:t>
            </a:r>
          </a:p>
          <a:p>
            <a:pPr>
              <a:spcAft>
                <a:pts val="400"/>
              </a:spcAft>
            </a:pPr>
            <a:r>
              <a:rPr lang="en-US" dirty="0" sz="1200">
                <a:solidFill>
                  <a:srgbClr val="2E1B5B"/>
                </a:solidFill>
              </a:rPr>
              <a:t>• Angle Scaling: Inputs scaled to [0, π] via MinMaxScaler to represent valid quantum rotation angles.</a:t>
            </a:r>
          </a:p>
          <a:p>
            <a:pPr>
              <a:spcAft>
                <a:pts val="400"/>
              </a:spcAft>
            </a:pPr>
            <a:r>
              <a:rPr lang="en-US" dirty="0" sz="1200">
                <a:solidFill>
                  <a:srgbClr val="2E1B5B"/>
                </a:solidFill>
              </a:rPr>
              <a:t>• Quantum Feature Map: Second-order Pauli ZZFeatureMap (reps=1, linear entanglement, 11 quantum gates).</a:t>
            </a:r>
          </a:p>
          <a:p>
            <a:pPr>
              <a:spcAft>
                <a:pts val="400"/>
              </a:spcAft>
            </a:pPr>
            <a:r>
              <a:rPr lang="en-US" dirty="0" sz="1200">
                <a:solidFill>
                  <a:srgbClr val="2E1B5B"/>
                </a:solidFill>
              </a:rPr>
              <a:t>• Simulator Backend: Qiskit Statevector simulation computing pairwise state fidelities |⟨ψ(x)|ψ(x')⟩|².</a:t>
            </a:r>
          </a:p>
          <a:p>
            <a:r>
              <a:rPr lang="en-US" dirty="0" sz="1200">
                <a:solidFill>
                  <a:srgbClr val="2E1B5B"/>
                </a:solidFill>
              </a:rPr>
              <a:t>• Classifier: Scikit-learn SVC(kernel='precomputed', class_weight='balanced').</a:t>
            </a:r>
          </a:p>
        </p:txBody>
      </p:sp>
      <p:sp>
        <p:nvSpPr>
          <p:cNvPr id="8" name="Content card"/>
          <p:cNvSpPr/>
          <p:nvPr/>
        </p:nvSpPr>
        <p:spPr>
          <a:xfrm>
            <a:off x="5577840" y="1691640"/>
            <a:ext cx="310896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9" name="Card accent"/>
          <p:cNvSpPr/>
          <p:nvPr/>
        </p:nvSpPr>
        <p:spPr>
          <a:xfrm>
            <a:off x="5806440" y="1691640"/>
            <a:ext cx="822960" cy="54864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806440" y="1874520"/>
            <a:ext cx="2800000" cy="2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pts val="400"/>
              </a:spcAft>
            </a:pPr>
            <a:r>
              <a:rPr lang="en-US" dirty="0" b="1" sz="1300">
                <a:solidFill>
                  <a:srgbClr val="5B3BA8"/>
                </a:solidFill>
              </a:rPr>
              <a:t>Classical Baseline:</a:t>
            </a:r>
          </a:p>
          <a:p>
            <a:pPr>
              <a:spcAft>
                <a:pts val="200"/>
              </a:spcAft>
            </a:pPr>
            <a:r>
              <a:rPr lang="en-US" dirty="0" sz="1100">
                <a:solidFill>
                  <a:srgbClr val="2E1B5B"/>
                </a:solidFill>
              </a:rPr>
              <a:t>• Full 7D feature space.</a:t>
            </a:r>
          </a:p>
          <a:p>
            <a:pPr>
              <a:spcAft>
                <a:pts val="600"/>
              </a:spcAft>
            </a:pPr>
            <a:r>
              <a:rPr lang="en-US" dirty="0" sz="1100">
                <a:solidFill>
                  <a:srgbClr val="2E1B5B"/>
                </a:solidFill>
              </a:rPr>
              <a:t>• RBF Kernel with balanced loss penalty weighting.</a:t>
            </a:r>
          </a:p>
          <a:p>
            <a:pPr>
              <a:spcAft>
                <a:pts val="400"/>
              </a:spcAft>
            </a:pPr>
            <a:r>
              <a:rPr lang="en-US" dirty="0" b="1" sz="1300">
                <a:solidFill>
                  <a:srgbClr val="5B3BA8"/>
                </a:solidFill>
              </a:rPr>
              <a:t>Controlled Experiment:</a:t>
            </a:r>
          </a:p>
          <a:p>
            <a:pPr>
              <a:spcAft>
                <a:pts val="200"/>
              </a:spcAft>
            </a:pPr>
            <a:r>
              <a:rPr lang="en-US" dirty="0" sz="1100">
                <a:solidFill>
                  <a:srgbClr val="2E1B5B"/>
                </a:solidFill>
              </a:rPr>
              <a:t>• Fair comparison on identical 80-sample stratified subset (60 train / 20 test).</a:t>
            </a:r>
          </a:p>
          <a:p>
            <a:r>
              <a:rPr lang="en-US" dirty="0" sz="1100">
                <a:solidFill>
                  <a:srgbClr val="2E1B5B"/>
                </a:solidFill>
              </a:rPr>
              <a:t>• Identical PCA features passed to both models.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/>
          <p:nvPr>
            <p:ph idx="120" type="title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Sensor Drift Detection &amp; Uncertainty Alerting</a:t>
            </a:r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Content card"/>
          <p:cNvSpPr/>
          <p:nvPr/>
        </p:nvSpPr>
        <p:spPr>
          <a:xfrm>
            <a:off x="45720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874520"/>
            <a:ext cx="7500000" cy="2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pts val="600"/>
              </a:spcAft>
            </a:pPr>
            <a:r>
              <a:rPr lang="en-US" dirty="0" b="1" sz="1500">
                <a:solidFill>
                  <a:srgbClr val="5B3BA8"/>
                </a:solidFill>
              </a:rPr>
              <a:t>Statistical Sensor Drift Monitoring (Two-Sample KS Test):</a:t>
            </a:r>
          </a:p>
          <a:p>
            <a:pPr>
              <a:spcAft>
                <a:pts val="400"/>
              </a:spcAft>
            </a:pPr>
            <a:r>
              <a:rPr lang="en-US" dirty="0" sz="1300">
                <a:solidFill>
                  <a:srgbClr val="2E1B5B"/>
                </a:solidFill>
              </a:rPr>
              <a:t>• Evaluates whether incoming sensor readings deviate from healthy baseline distributions (p &lt; α, default α=0.05).</a:t>
            </a:r>
          </a:p>
          <a:p>
            <a:pPr>
              <a:spcAft>
                <a:pts val="400"/>
              </a:spcAft>
            </a:pPr>
            <a:r>
              <a:rPr lang="en-US" dirty="0" sz="1300">
                <a:solidFill>
                  <a:srgbClr val="2E1B5B"/>
                </a:solidFill>
              </a:rPr>
              <a:t>• Unsupervised &amp; Non-parametric: Directly tests continuous telemetry without accessing ground-truth labels.</a:t>
            </a:r>
          </a:p>
          <a:p>
            <a:pPr>
              <a:spcAft>
                <a:pts val="1000"/>
              </a:spcAft>
            </a:pPr>
            <a:r>
              <a:rPr lang="en-US" dirty="0" sz="1300">
                <a:solidFill>
                  <a:srgbClr val="2E1B5B"/>
                </a:solidFill>
              </a:rPr>
              <a:t>• Critical Technical Distinction: Detecting sensor drift proves COVARIATE SHIFT in sensor physics, NOT definitive equipment failure.</a:t>
            </a:r>
          </a:p>
          <a:p>
            <a:pPr>
              <a:spcAft>
                <a:pts val="600"/>
              </a:spcAft>
            </a:pPr>
            <a:r>
              <a:rPr lang="en-US" dirty="0" b="1" sz="1500">
                <a:solidFill>
                  <a:srgbClr val="5B3BA8"/>
                </a:solidFill>
              </a:rPr>
              <a:t>Uncertainty-Aware Human-in-the-Loop Alert Layer:</a:t>
            </a:r>
          </a:p>
          <a:p>
            <a:pPr>
              <a:spcAft>
                <a:pts val="400"/>
              </a:spcAft>
            </a:pPr>
            <a:r>
              <a:rPr lang="en-US" dirty="0" sz="1300">
                <a:solidFill>
                  <a:srgbClr val="2E1B5B"/>
                </a:solidFill>
              </a:rPr>
              <a:t>• Monitors model prediction confidence (max probability) against configurable threshold (e.g. 70%).</a:t>
            </a:r>
          </a:p>
          <a:p>
            <a:pPr>
              <a:spcAft>
                <a:pts val="400"/>
              </a:spcAft>
            </a:pPr>
            <a:r>
              <a:rPr lang="en-US" dirty="0" sz="1300">
                <a:solidFill>
                  <a:srgbClr val="2E1B5B"/>
                </a:solidFill>
              </a:rPr>
              <a:t>• Automatically flags ambiguous or borderline machine predictions for human engineering review.</a:t>
            </a:r>
          </a:p>
          <a:p>
            <a:r>
              <a:rPr lang="en-US" dirty="0" sz="1300">
                <a:solidFill>
                  <a:srgbClr val="2E1B5B"/>
                </a:solidFill>
              </a:rPr>
              <a:t>• Technical Limitation: Platt-scaled SVM probabilities are heuristic cross-validation mappings, not true Bayesian posteriors under drift.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/>
          <p:nvPr>
            <p:ph idx="120" type="title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Experimental Results &amp; Verification</a:t>
            </a:r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Insert area"/>
          <p:cNvSpPr/>
          <p:nvPr/>
        </p:nvSpPr>
        <p:spPr>
          <a:xfrm>
            <a:off x="457200" y="1691640"/>
            <a:ext cx="4937760" cy="2926080"/>
          </a:xfrm>
          <a:prstGeom prst="roundRect">
            <a:avLst>
              <a:gd name="adj" fmla="val 2500"/>
            </a:avLst>
          </a:prstGeom>
          <a:solidFill>
            <a:srgbClr val="EEF0FE"/>
          </a:solidFill>
          <a:ln w="15875">
            <a:solidFill>
              <a:srgbClr val="7C93F0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640080" y="1874520"/>
            <a:ext cx="4600000" cy="27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pts val="400"/>
              </a:spcAft>
            </a:pPr>
            <a:r>
              <a:rPr lang="en-US" dirty="0" b="1" sz="1300">
                <a:solidFill>
                  <a:srgbClr val="5B3BA8"/>
                </a:solidFill>
              </a:rPr>
              <a:t>Full Classical Baseline (10,000 Records, 2,000 Test):</a:t>
            </a:r>
          </a:p>
          <a:p>
            <a:pPr>
              <a:spcAft>
                <a:pts val="200"/>
              </a:spcAft>
            </a:pPr>
            <a:r>
              <a:rPr lang="en-US" dirty="0" sz="1100">
                <a:solidFill>
                  <a:srgbClr val="2E1B5B"/>
                </a:solidFill>
              </a:rPr>
              <a:t>• Accuracy: 91.50% | Training Time: 2.91s</a:t>
            </a:r>
          </a:p>
          <a:p>
            <a:pPr>
              <a:spcAft>
                <a:pts val="200"/>
              </a:spcAft>
            </a:pPr>
            <a:r>
              <a:rPr lang="en-US" dirty="0" b="1" sz="1100">
                <a:solidFill>
                  <a:srgbClr val="2E1B5B"/>
                </a:solidFill>
              </a:rPr>
              <a:t>• Failure Recall: 89.71% (61 of 68 test failures caught)</a:t>
            </a:r>
          </a:p>
          <a:p>
            <a:pPr>
              <a:spcAft>
                <a:pts val="200"/>
              </a:spcAft>
            </a:pPr>
            <a:r>
              <a:rPr lang="en-US" dirty="0" sz="1100">
                <a:solidFill>
                  <a:srgbClr val="2E1B5B"/>
                </a:solidFill>
              </a:rPr>
              <a:t>• Failure Precision: 27.23% | Failure F1: 0.4178</a:t>
            </a:r>
          </a:p>
          <a:p>
            <a:pPr>
              <a:spcAft>
                <a:pts val="800"/>
              </a:spcAft>
            </a:pPr>
            <a:r>
              <a:rPr lang="en-US" dirty="0" sz="1100">
                <a:solidFill>
                  <a:srgbClr val="2E1B5B"/>
                </a:solidFill>
              </a:rPr>
              <a:t>• Confusion Matrix: TN=1769, FP=163, FN=7, TP=61</a:t>
            </a:r>
          </a:p>
          <a:p>
            <a:pPr>
              <a:spcAft>
                <a:pts val="400"/>
              </a:spcAft>
            </a:pPr>
            <a:r>
              <a:rPr lang="en-US" dirty="0" b="1" sz="1300">
                <a:solidFill>
                  <a:srgbClr val="5B3BA8"/>
                </a:solidFill>
              </a:rPr>
              <a:t>Controlled Quantum Comparison (80 Records, 20 Test):</a:t>
            </a:r>
          </a:p>
          <a:p>
            <a:pPr>
              <a:spcAft>
                <a:pts val="200"/>
              </a:spcAft>
            </a:pPr>
            <a:r>
              <a:rPr lang="en-US" dirty="0" sz="1100">
                <a:solidFill>
                  <a:srgbClr val="2E1B5B"/>
                </a:solidFill>
              </a:rPr>
              <a:t>• Classical SVM (Subset): 90.00% Accuracy (18 TN, 1 FP, 1 FN, 0 TP)</a:t>
            </a:r>
          </a:p>
          <a:p>
            <a:pPr>
              <a:spcAft>
                <a:pts val="200"/>
              </a:spcAft>
            </a:pPr>
            <a:r>
              <a:rPr lang="en-US" dirty="0" sz="1100">
                <a:solidFill>
                  <a:srgbClr val="2E1B5B"/>
                </a:solidFill>
              </a:rPr>
              <a:t>• Quantum-Kernel SVM: 95.00% Accuracy (19 TN, 0 FP, 1 FN, 0 TP)</a:t>
            </a:r>
          </a:p>
          <a:p>
            <a:pPr>
              <a:spcAft>
                <a:pts val="200"/>
              </a:spcAft>
            </a:pPr>
            <a:r>
              <a:rPr lang="en-US" dirty="0" sz="1100">
                <a:solidFill>
                  <a:srgbClr val="2E1B5B"/>
                </a:solidFill>
              </a:rPr>
              <a:t>• Both models had 0% failure recall on this small 20-sample test set (neither caught the single failure).</a:t>
            </a:r>
          </a:p>
          <a:p>
            <a:r>
              <a:rPr lang="en-US" dirty="0" sz="1100">
                <a:solidFill>
                  <a:srgbClr val="2E1B5B"/>
                </a:solidFill>
              </a:rPr>
              <a:t>• Quantum Training Kernel Evaluation Time: ~6.53s (scales O(N²))</a:t>
            </a:r>
          </a:p>
        </p:txBody>
      </p:sp>
      <p:sp>
        <p:nvSpPr>
          <p:cNvPr id="8" name="Content card"/>
          <p:cNvSpPr/>
          <p:nvPr/>
        </p:nvSpPr>
        <p:spPr>
          <a:xfrm>
            <a:off x="5577840" y="1691640"/>
            <a:ext cx="310896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9" name="Card accent"/>
          <p:cNvSpPr/>
          <p:nvPr/>
        </p:nvSpPr>
        <p:spPr>
          <a:xfrm>
            <a:off x="5806440" y="1691640"/>
            <a:ext cx="822960" cy="54864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00000" y="1874520"/>
            <a:ext cx="3300000" cy="2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pts val="400"/>
              </a:spcAft>
            </a:pPr>
            <a:r>
              <a:rPr lang="en-US" dirty="0" b="1" sz="1300">
                <a:solidFill>
                  <a:srgbClr val="5B3BA8"/>
                </a:solidFill>
              </a:rPr>
              <a:t>Drift &amp; Uncertainty Demo:</a:t>
            </a:r>
          </a:p>
          <a:p>
            <a:pPr>
              <a:spcAft>
                <a:pts val="200"/>
              </a:spcAft>
            </a:pPr>
            <a:r>
              <a:rPr lang="en-US" dirty="0" sz="1100">
                <a:solidFill>
                  <a:srgbClr val="2E1B5B"/>
                </a:solidFill>
              </a:rPr>
              <a:t>• Nominal Test Batch: 0/5 features drifted (p &gt; 0.05).</a:t>
            </a:r>
          </a:p>
          <a:p>
            <a:pPr>
              <a:spcAft>
                <a:pts val="200"/>
              </a:spcAft>
            </a:pPr>
            <a:r>
              <a:rPr lang="en-US" dirty="0" sz="1100">
                <a:solidFill>
                  <a:srgbClr val="2E1B5B"/>
                </a:solidFill>
              </a:rPr>
              <a:t>• Synthetic Drift: Flagged 3/5 features (Air temp, Process temp, Tool wear with p &lt; 1e-300).</a:t>
            </a:r>
          </a:p>
          <a:p>
            <a:pPr>
              <a:spcAft>
                <a:pts val="600"/>
              </a:spcAft>
            </a:pPr>
            <a:r>
              <a:rPr lang="en-US" dirty="0" sz="1100">
                <a:solidFill>
                  <a:srgbClr val="2E1B5B"/>
                </a:solidFill>
              </a:rPr>
              <a:t>• Uncertainty Alerts: Flagged 62/2,000 predictions (3.1%) below 70% confidence for human review.</a:t>
            </a:r>
          </a:p>
          <a:p>
            <a:pPr>
              <a:spcAft>
                <a:pts val="200"/>
              </a:spcAft>
            </a:pPr>
            <a:r>
              <a:rPr lang="en-US" dirty="0" b="1" sz="1200">
                <a:solidFill>
                  <a:srgbClr val="9B1C1C"/>
                </a:solidFill>
              </a:rPr>
              <a:t>Crucial Evaluation Notice:</a:t>
            </a:r>
          </a:p>
          <a:p>
            <a:pPr>
              <a:spcAft>
                <a:pts val="200"/>
              </a:spcAft>
            </a:pPr>
            <a:r>
              <a:rPr lang="en-US" dirty="0" sz="1000">
                <a:solidFill>
                  <a:srgbClr val="2E1B5B"/>
                </a:solidFill>
              </a:rPr>
              <a:t>• The quantum experiment is preliminary; 80 samples cannot establish quantum advantage.</a:t>
            </a:r>
          </a:p>
          <a:p>
            <a:r>
              <a:rPr lang="en-US" dirty="0" sz="1000">
                <a:solidFill>
                  <a:srgbClr val="2E1B5B"/>
                </a:solidFill>
              </a:rPr>
              <a:t>• Full classical and quantum results cannot be compared directly as test sets differ.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/>
          <p:nvPr>
            <p:ph idx="120" type="title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Interactive Streamlit Operational Dashboard</a:t>
            </a:r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Content card"/>
          <p:cNvSpPr/>
          <p:nvPr/>
        </p:nvSpPr>
        <p:spPr>
          <a:xfrm>
            <a:off x="45720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874520"/>
            <a:ext cx="7500000" cy="2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pts val="600"/>
              </a:spcAft>
            </a:pPr>
            <a:r>
              <a:rPr lang="en-US" dirty="0" b="1" sz="1500">
                <a:solidFill>
                  <a:srgbClr val="5B3BA8"/>
                </a:solidFill>
              </a:rPr>
              <a:t>Five Demonstration Modules (src/dashboard.py):</a:t>
            </a:r>
          </a:p>
          <a:p>
            <a:pPr>
              <a:spcAft>
                <a:pts val="400"/>
              </a:spcAft>
            </a:pPr>
            <a:r>
              <a:rPr lang="en-US" dirty="0" sz="1300">
                <a:solidFill>
                  <a:srgbClr val="2E1B5B"/>
                </a:solidFill>
              </a:rPr>
              <a:t>1. Overview &amp; System Telemetry: Dataset statistics, continuous sensor channel ranges, class balance.</a:t>
            </a:r>
          </a:p>
          <a:p>
            <a:pPr>
              <a:spcAft>
                <a:pts val="400"/>
              </a:spcAft>
            </a:pPr>
            <a:r>
              <a:rPr lang="en-US" dirty="0" sz="1300">
                <a:solidFill>
                  <a:srgbClr val="2E1B5B"/>
                </a:solidFill>
              </a:rPr>
              <a:t>2. Live Fault Prediction: Real-time sensor input sliders and quick-load operational presets (Normal, Thermal Strain, Critical Wear). Evaluates predictions via trained pipeline with live confidence scoring.</a:t>
            </a:r>
          </a:p>
          <a:p>
            <a:pPr>
              <a:spcAft>
                <a:pts val="400"/>
              </a:spcAft>
            </a:pPr>
            <a:r>
              <a:rPr lang="en-US" dirty="0" sz="1300">
                <a:solidFill>
                  <a:srgbClr val="2E1B5B"/>
                </a:solidFill>
              </a:rPr>
              <a:t>3. Sensor Drift Monitoring: Unsupervised KS-test comparing reference data with nominal or controlled synthetic drift batches, presenting per-feature D-statistics and p-values.</a:t>
            </a:r>
          </a:p>
          <a:p>
            <a:pPr>
              <a:spcAft>
                <a:pts val="400"/>
              </a:spcAft>
            </a:pPr>
            <a:r>
              <a:rPr lang="en-US" dirty="0" sz="1300">
                <a:solidFill>
                  <a:srgbClr val="2E1B5B"/>
                </a:solidFill>
              </a:rPr>
              <a:t>4. Quantum vs. Classical Benchmark: Side-by-side metric tables, runtime analysis, explicit sample-size warnings, and an on-demand live quantum simulation button (N=40).</a:t>
            </a:r>
          </a:p>
          <a:p>
            <a:r>
              <a:rPr lang="en-US" dirty="0" sz="1300">
                <a:solidFill>
                  <a:srgbClr val="2E1B5B"/>
                </a:solidFill>
              </a:rPr>
              <a:t>5. Unified Alert Center: Triaged operational alerts (🔴 Tier 1: Fault, 🟡 Tier 2: Drift, 🔵 Tier 3: Uncertainty Review).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/>
          <p:nvPr>
            <p:ph idx="120" type="title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Challenges, Limitations &amp; Future Scope</a:t>
            </a:r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Content card"/>
          <p:cNvSpPr/>
          <p:nvPr/>
        </p:nvSpPr>
        <p:spPr>
          <a:xfrm>
            <a:off x="45720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874520"/>
            <a:ext cx="7500000" cy="2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pts val="600"/>
              </a:spcAft>
            </a:pPr>
            <a:r>
              <a:rPr lang="en-US" dirty="0" b="1" sz="1500">
                <a:solidFill>
                  <a:srgbClr val="5B3BA8"/>
                </a:solidFill>
              </a:rPr>
              <a:t>Identified Challenges &amp; Technical Limitations:</a:t>
            </a:r>
          </a:p>
          <a:p>
            <a:pPr>
              <a:spcAft>
                <a:pts val="400"/>
              </a:spcAft>
            </a:pPr>
            <a:r>
              <a:rPr lang="en-US" dirty="0" sz="1300">
                <a:solidFill>
                  <a:srgbClr val="2E1B5B"/>
                </a:solidFill>
              </a:rPr>
              <a:t>• O(N²) Quantum Simulation Scaling: Evaluating pairwise quantum state fidelities on classical CPU simulators limits tractable quantum sample sizes without hardware acceleration.</a:t>
            </a:r>
          </a:p>
          <a:p>
            <a:pPr>
              <a:spcAft>
                <a:pts val="400"/>
              </a:spcAft>
            </a:pPr>
            <a:r>
              <a:rPr lang="en-US" dirty="0" sz="1300">
                <a:solidFill>
                  <a:srgbClr val="2E1B5B"/>
                </a:solidFill>
              </a:rPr>
              <a:t>• Small Quantum Test Partition: On 80 samples, the severe 3.4% imbalance leaves only 1 failure in test data, rendering failure recall metrics inconclusive.</a:t>
            </a:r>
          </a:p>
          <a:p>
            <a:pPr>
              <a:spcAft>
                <a:pts val="1000"/>
              </a:spcAft>
            </a:pPr>
            <a:r>
              <a:rPr lang="en-US" dirty="0" sz="1300">
                <a:solidFill>
                  <a:srgbClr val="2E1B5B"/>
                </a:solidFill>
              </a:rPr>
              <a:t>• Heuristic Confidence: Platt-scaled probabilities degrade under severe distribution shift and require formal conformal prediction calibration.</a:t>
            </a:r>
          </a:p>
          <a:p>
            <a:pPr>
              <a:spcAft>
                <a:pts val="600"/>
              </a:spcAft>
            </a:pPr>
            <a:r>
              <a:rPr lang="en-US" dirty="0" b="1" sz="1500">
                <a:solidFill>
                  <a:srgbClr val="5B3BA8"/>
                </a:solidFill>
              </a:rPr>
              <a:t>Prospective Future Work (Planned Directions):</a:t>
            </a:r>
          </a:p>
          <a:p>
            <a:pPr>
              <a:spcAft>
                <a:pts val="400"/>
              </a:spcAft>
            </a:pPr>
            <a:r>
              <a:rPr lang="en-US" dirty="0" sz="1300">
                <a:solidFill>
                  <a:srgbClr val="2E1B5B"/>
                </a:solidFill>
              </a:rPr>
              <a:t>• Deploy on physical IBM Quantum hardware backends via Qiskit Runtime Primitives with error mitigation.</a:t>
            </a:r>
          </a:p>
          <a:p>
            <a:pPr>
              <a:spcAft>
                <a:pts val="400"/>
              </a:spcAft>
            </a:pPr>
            <a:r>
              <a:rPr lang="en-US" dirty="0" sz="1300">
                <a:solidFill>
                  <a:srgbClr val="2E1B5B"/>
                </a:solidFill>
              </a:rPr>
              <a:t>• Explore trainable quantum kernels and quantum neural networks (QNNs) with noise-resilient ansatzes.</a:t>
            </a:r>
          </a:p>
          <a:p>
            <a:r>
              <a:rPr lang="en-US" dirty="0" sz="1300">
                <a:solidFill>
                  <a:srgbClr val="2E1B5B"/>
                </a:solidFill>
              </a:rPr>
              <a:t>• Implement online incremental learning to autonomously recalibrate models as sensor drift progresses.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863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E863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7889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Dashboard Launch: streamlit run src/dashboard.py | 15/15 Tests Passing</a:t>
            </a:r>
          </a:p>
        </p:txBody>
      </p:sp>
      <p:sp>
        <p:nvSpPr>
          <p:cNvPr id="5" name="Field: GITHUB REPOSITORY"/>
          <p:cNvSpPr/>
          <p:nvPr/>
        </p:nvSpPr>
        <p:spPr>
          <a:xfrm>
            <a:off x="457200" y="3291840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900" dirty="0"/>
          </a:p>
          <a:p>
            <a:pPr algn="l" indent="0" marL="0">
              <a:buNone/>
            </a:pPr>
            <a:r>
              <a:rPr lang="en-US" sz="1200" i="1" dirty="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github.com/vtu-qiskit-fall-fest-2026/vtu-hc-phantoms</a:t>
            </a:r>
            <a:endParaRPr lang="en-US" sz="900" dirty="0"/>
          </a:p>
        </p:txBody>
      </p:sp>
      <p:sp>
        <p:nvSpPr>
          <p:cNvPr id="6" name="Field: DEMO VIDEO LINK"/>
          <p:cNvSpPr/>
          <p:nvPr/>
        </p:nvSpPr>
        <p:spPr>
          <a:xfrm>
            <a:off x="2834640" y="3291840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VIDEO LINK</a:t>
            </a:r>
            <a:endParaRPr lang="en-US" sz="900" dirty="0"/>
          </a:p>
          <a:p>
            <a:pPr algn="l" indent="0" marL="0">
              <a:buNone/>
            </a:pPr>
            <a:r>
              <a:rPr lang="en-US" sz="1200" i="1" dirty="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run src/dashboard.py</a:t>
            </a:r>
            <a:endParaRPr lang="en-US" sz="900" dirty="0"/>
          </a:p>
        </p:txBody>
      </p:sp>
      <p:pic>
        <p:nvPicPr>
          <p:cNvPr id="7" name="Bloch sphere ring" descr="sphe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097280"/>
            <a:ext cx="3200400" cy="3200400"/>
          </a:xfrm>
          <a:prstGeom prst="rect">
            <a:avLst/>
          </a:prstGeom>
        </p:spPr>
      </p:pic>
      <p:pic>
        <p:nvPicPr>
          <p:cNvPr id="8" name="Image 1" descr="bird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914400"/>
            <a:ext cx="822960" cy="493776"/>
          </a:xfrm>
          <a:prstGeom prst="rect">
            <a:avLst/>
          </a:prstGeom>
        </p:spPr>
      </p:pic>
      <p:pic>
        <p:nvPicPr>
          <p:cNvPr id="9" name="Image 2" descr="bird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3840480"/>
            <a:ext cx="548640" cy="329184"/>
          </a:xfrm>
          <a:prstGeom prst="rect">
            <a:avLst/>
          </a:prstGeom>
        </p:spPr>
      </p:pic>
      <p:pic>
        <p:nvPicPr>
          <p:cNvPr id="10" name="Image 3" descr="bird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4023360"/>
            <a:ext cx="457200" cy="274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Qiskit Fall Fest">
  <a:themeElements>
    <a:clrScheme name="Qiskit Fall Fest">
      <a:dk1>
        <a:srgbClr val="2E1B5B"/>
      </a:dk1>
      <a:lt1>
        <a:srgbClr val="FFFFFF"/>
      </a:lt1>
      <a:dk2>
        <a:srgbClr val="4B2BA8"/>
      </a:dk2>
      <a:lt2>
        <a:srgbClr val="DDE2FC"/>
      </a:lt2>
      <a:accent1>
        <a:srgbClr val="E0558F"/>
      </a:accent1>
      <a:accent2>
        <a:srgbClr val="6B3FD4"/>
      </a:accent2>
      <a:accent3>
        <a:srgbClr val="F5C33B"/>
      </a:accent3>
      <a:accent4>
        <a:srgbClr val="3B82F6"/>
      </a:accent4>
      <a:accent5>
        <a:srgbClr val="7B58B8"/>
      </a:accent5>
      <a:accent6>
        <a:srgbClr val="2BB5A0"/>
      </a:accent6>
      <a:hlink>
        <a:srgbClr val="6B3FD4"/>
      </a:hlink>
      <a:folHlink>
        <a:srgbClr val="4B2BA8"/>
      </a:folHlink>
    </a:clrScheme>
    <a:fontScheme name="Qiskit Fall Fest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Qiskit Fall Fest 2026 - Participant Presentation Template</dc:title>
  <dc:subject>PptxGenJS Presentation</dc:subject>
  <dc:creator>PptxGenJS</dc:creator>
  <cp:lastModifiedBy>PptxGenJS</cp:lastModifiedBy>
  <cp:revision>1</cp:revision>
  <dcterms:created xsi:type="dcterms:W3CDTF">2026-10-20T08:51:43Z</dcterms:created>
  <dcterms:modified xsi:type="dcterms:W3CDTF">2026-10-20T08:51:43Z</dcterms:modified>
</cp:coreProperties>
</file>